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LearnPilot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D0D0D8"/>
                </a:solidFill>
              </a:defRPr>
            </a:pPr>
            <a:r>
              <a:t>AI-Powered Adaptive Learning Platform</a:t>
            </a:r>
            <a:br/>
            <a:r>
              <a:t>Student · Teacher · Admin · Owner</a:t>
            </a:r>
            <a:br/>
            <a:r>
              <a:t>Full-Stack • TypeScript • Express + Prisma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1371600"/>
          </a:xfrm>
          <a:prstGeom prst="rect">
            <a:avLst/>
          </a:prstGeom>
          <a:solidFill>
            <a:srgbClr val="60A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0D0D8"/>
                </a:solidFill>
              </a:defRPr>
            </a:pPr>
            <a:r>
              <a:t>Today's learning platforms are static, one-size-fits-all, and disconnected.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Pain Points in Modern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One-size-fits-all content ignores individual learning gaps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No real-time adaptive feedback during learning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Weak students get lost; advanced students get bored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Teachers lack actionable intelligence about student weaknesses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No persistent learning intelligence across sessions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Manual planning, no data-driven study schedules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AI tutoring is a novelty, not an integrated learning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1371600"/>
          </a:xfrm>
          <a:prstGeom prst="rect">
            <a:avLst/>
          </a:prstGeom>
          <a:solidFill>
            <a:srgbClr val="60A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0D0D8"/>
                </a:solidFill>
              </a:defRPr>
            </a:pPr>
            <a:r>
              <a:t>LearnPilot — a closed-loop adaptive learning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Is LearnPilot?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A full-stack learning platform with 40+ intelligent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Closed-loop learning intelligence: evidence → mastery → adaptation → new activity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Multi-role support: Student, Teacher, Admin, Owner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Real backend (Express + Prisma + PostgreSQL) replacing localStorage demo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AI gateway with 9+ free LLM providers and automatic fallback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RAG (Retrieval-Augmented Generation) for course content 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Spaced repetition, adaptive quizzes, and AI-powered planning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Bilingual: Arabic (RTL) and English (LTR) with full i18n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Production readiness focus: auth, RBAC, security,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1371600"/>
          </a:xfrm>
          <a:prstGeom prst="rect">
            <a:avLst/>
          </a:prstGeom>
          <a:solidFill>
            <a:srgbClr val="60A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0D0D8"/>
                </a:solidFill>
              </a:defRPr>
            </a:pPr>
            <a:r>
              <a:t>Full-stack TypeScript platform with intelligence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023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0AFF0"/>
                </a:solidFill>
              </a:defRPr>
            </a:pPr>
            <a:r>
              <a:t>Frontend (Vite + React 19)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Role-based routing (student / teacher / admin / owner)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RTL ↔ LTR bilingual support (i18next)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TailwindCSS + responsive design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Dark / light theme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Zustand-style store layer (localStorage → backend)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Web Speech API for voice mode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Playwright E2E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822960"/>
            <a:ext cx="4023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0AFF0"/>
                </a:solidFill>
              </a:defRPr>
            </a:pPr>
            <a:r>
              <a:t>Backend (Express + Prisma)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REST API: auth, users, learning, AI, classrooms, assignments, notifications, files, courses, assessments, admin, owner, privacy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PostgreSQL database with 16+ migrations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JWT + cookie-based auth with role RBAC middleware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AI gateway with 9+ LLM providers, fallback chain, semantic cache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Rate limiting, audit logging, security headers (Helmet, CORS)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Vector search (pgvector) for RAG document retrieval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XP / gamification with idempotency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Vitest unit + integration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Intelligence Engine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023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0AFF0"/>
                </a:solidFill>
              </a:defRPr>
            </a:pPr>
            <a:r>
              <a:t>Learning Intelligence (20+ engines)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Adaptive Quiz Engine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Spaced Repetition Engine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Mistake / Misconception Engine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Learning Path Engine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Decision Engine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Risk Detection Engine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Knowledge Graph &amp; Student Model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Engagement &amp; Growth Engine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Voice Audio / Mindmap Engine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Study / Exam Engine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Collaboration Engine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Stakeholder Intelligence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Course Retrieval (RAG)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Tutor Context Engine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Mastery Scoring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Production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822960"/>
            <a:ext cx="4023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0AFF0"/>
                </a:solidFill>
              </a:defRPr>
            </a:pPr>
            <a:r>
              <a:t>Data Flow (Closed Loop)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Student Activity → Learning Event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Evidence → Knowledge State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Mastery / Mistake / Misconception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Knowledge Graph → Weakness / Prerequisite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Adaptive Decision → Learning Path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Adaptive Quiz / Spaced Repetition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Planner → AI Tutor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New Activity → New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1371600"/>
          </a:xfrm>
          <a:prstGeom prst="rect">
            <a:avLst/>
          </a:prstGeom>
          <a:solidFill>
            <a:srgbClr val="60A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0D0D8"/>
                </a:solidFill>
              </a:defRPr>
            </a:pPr>
            <a:r>
              <a:t>Student experience — 11 captured screens.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UI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01 — Home &amp; 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02 — Student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03 — AI Tutor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04 — Adaptive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05 — Hub (9 learning modes)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06 — Progress &amp; Mastery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07 — Course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08 — Lesson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09 — AI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10 — Assessment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11 — Teacher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1371600"/>
          </a:xfrm>
          <a:prstGeom prst="rect">
            <a:avLst/>
          </a:prstGeom>
          <a:solidFill>
            <a:srgbClr val="60A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0D0D8"/>
                </a:solidFill>
              </a:defRPr>
            </a:pPr>
            <a:r>
              <a:t>One gateway to 9 learning modes.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The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Hub — 9 Learning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029200" cy="45720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Adaptive — personalized question sequencing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Voice — speech-to-text practice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Ask — free-form AI tutoring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Studio — content creation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Paths — guided learning journeys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Compete — gamified challenges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Focus — distraction-free study timer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Achieve — badges &amp; gamification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Care — spaced-repetition review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1371600"/>
          </a:xfrm>
          <a:prstGeom prst="rect">
            <a:avLst/>
          </a:prstGeom>
          <a:solidFill>
            <a:srgbClr val="60A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0D0D8"/>
                </a:solidFill>
              </a:defRPr>
            </a:pPr>
            <a:r>
              <a:t>Multi-provider AI gateway with semantic cache.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AI &amp;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AI Gateway — 9+ Free Providers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Custom self-hosted (RunPod/Vast.ai GPU) — highest priority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Groq — OpenAI-compatible, fast inference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OpenRouter — 100+ models, free tier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Mistral — European privacy-friendly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DeepInfra — serverless inference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HuggingFace — open-source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GitHub Models — free with GitHub account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Google Gemini — native API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Ollama — local, unlimited, no tokens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Automatic fallback: provider → next model → next provider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5-minute semantic cache for identical prompts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Monthly budget limit + rate limiting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RAG — Retrieval-Augmented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Document ingestion → parsing → chunking → embeddings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Vector storage (pgvector / PGVECTOR_ENABLED)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Semantic vector search with similarity scoring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Keyword fallback when vectors unavailable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Citations and source attribution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Course-scoped retrieval with limit control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Audit logging for all search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AI Gateway — Provider Chain (server/src/routes/ai.ts)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0C0C8"/>
                </a:solidFill>
                <a:latin typeface="Consolas"/>
              </a:defRPr>
            </a:pPr>
            <a:r>
              <a:t>// ── Provider priority: self-hosted → Groq → OpenRouter → ... → Ollama ──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4AD674"/>
                </a:solidFill>
                <a:latin typeface="Consolas"/>
              </a:defRPr>
            </a:pPr>
            <a:r>
              <a:t>if (process.env.CUSTOM_LLM_BASE_URL) { ... }  // your GPU server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4AD674"/>
                </a:solidFill>
                <a:latin typeface="Consolas"/>
              </a:defRPr>
            </a:pPr>
            <a:r>
              <a:t>if (process.env.GROQ_API_KEY)          { ... }  // free, fast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4AD674"/>
                </a:solidFill>
                <a:latin typeface="Consolas"/>
              </a:defRPr>
            </a:pPr>
            <a:r>
              <a:t>if (process.env.OPENROUTER_API_KEY)    { ... }  // 100+ free models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4AD674"/>
                </a:solidFill>
                <a:latin typeface="Consolas"/>
              </a:defRPr>
            </a:pPr>
            <a:r>
              <a:t>if (process.env.OLLAMA_ENABLED !== 'false') { ... } // local fallback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4AD67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0C0C8"/>
                </a:solidFill>
                <a:latin typeface="Consolas"/>
              </a:defRPr>
            </a:pPr>
            <a:r>
              <a:t>// Each model auto-tries the next if 404/402/429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0C0C8"/>
                </a:solidFill>
                <a:latin typeface="Consolas"/>
              </a:defRPr>
            </a:pPr>
            <a:r>
              <a:t>// In-memory cache: same prompt served from cache (5 min TTL)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0C0C8"/>
                </a:solidFill>
                <a:latin typeface="Consolas"/>
              </a:defRPr>
            </a:pPr>
            <a:r>
              <a:t>const hit = aiCache.get(key);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0C0C8"/>
                </a:solidFill>
                <a:latin typeface="Consolas"/>
              </a:defRPr>
            </a:pPr>
            <a:r>
              <a:t>if (hit &amp;&amp; Date.now() - hit.at &lt; AI_CACHE_TTL_MS) return cached;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0C0C8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0C0C8"/>
                </a:solidFill>
                <a:latin typeface="Consolas"/>
              </a:defRPr>
            </a:pPr>
            <a:r>
              <a:t>// Fallback to demo responses if ALL providers fail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0C0C8"/>
                </a:solidFill>
                <a:latin typeface="Consolas"/>
              </a:defRPr>
            </a:pPr>
            <a:r>
              <a:t>return res.json({ ..., model: 'local-demo', costUsd: 0 });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1371600"/>
          </a:xfrm>
          <a:prstGeom prst="rect">
            <a:avLst/>
          </a:prstGeom>
          <a:solidFill>
            <a:srgbClr val="60A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0D0D8"/>
                </a:solidFill>
              </a:defRPr>
            </a:pPr>
            <a:r>
              <a:t>Closed-loop: activity → evidence → mastery → adaptation.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Learning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Closed Learning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023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0AFF0"/>
                </a:solidFill>
              </a:defRPr>
            </a:pPr>
            <a:r>
              <a:t>Input Side (Evidence)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Lesson views &amp; completions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Question answers &amp; quiz submissions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Mistakes &amp; misconceptions recorded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AI tutor interactions logged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Spaced repetition reviews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Study sessions timed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822960"/>
            <a:ext cx="4023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0AFF0"/>
                </a:solidFill>
              </a:defRPr>
            </a:pPr>
            <a:r>
              <a:t>Output Side (Adaptation)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Mastery score per knowledge node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Weakness detection via mistake engine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Knowledge graph prerequisite analysis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Adaptive quiz question selection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Spaced repetition scheduling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AI planner recommendation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1371600"/>
          </a:xfrm>
          <a:prstGeom prst="rect">
            <a:avLst/>
          </a:prstGeom>
          <a:solidFill>
            <a:srgbClr val="60A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0D0D8"/>
                </a:solidFill>
              </a:defRPr>
            </a:pPr>
            <a:r>
              <a:t>Built-in from the start.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Security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Security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JWT + cookie-based authentication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Role-Based Access Control (RBAC): student, teacher, admin, owner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Server-side authorization on EVERY endpoint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Helmet.js for security headers (XSS, injection, etc.)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CORS with credential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Rate limiting (global: 300/min, auth: 20/15min)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PII redaction in AI prompts (regex pattern matching)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Unsafe prompt detection (cheating prevention)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Audit logging on all learning events, AI requests, XP awards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CSPN-enabled database with foreign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Privacy Compliance (GDPR/CCPA-ready)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Consent tracking (xp_consent_privacy migration)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Data retention scheduler (automated cleanup)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Parental consent / parent-student linking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Right to erasure (data deletion API)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Data portability endpoints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Audit trail for all data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1371600"/>
          </a:xfrm>
          <a:prstGeom prst="rect">
            <a:avLst/>
          </a:prstGeom>
          <a:solidFill>
            <a:srgbClr val="60A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0D0D8"/>
                </a:solidFill>
              </a:defRPr>
            </a:pPr>
            <a:r>
              <a:t>Every layer verified.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Testing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Test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023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0AFF0"/>
                </a:solidFill>
              </a:defRPr>
            </a:pPr>
            <a:r>
              <a:t>Frontend Tests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Vitest unit tests for intelligence engines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Production risk-matrix tests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Planner-tutor RAG integration tests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Learning persistence E2E tests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Roles &amp; permissions test suite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Playwright browser E2E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822960"/>
            <a:ext cx="4023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0AFF0"/>
                </a:solidFill>
              </a:defRPr>
            </a:pPr>
            <a:r>
              <a:t>Backend Tests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Auth &amp; session security tests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RBAC authorization tests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Learning event idempotency tests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XP awarding &amp; level-up tests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AI gateway fallback tests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Rate limiting &amp; budget tests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D0D0D8"/>
                </a:solidFill>
              </a:defRPr>
            </a:pPr>
            <a:r>
              <a:t>API integration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1371600"/>
          </a:xfrm>
          <a:prstGeom prst="rect">
            <a:avLst/>
          </a:prstGeom>
          <a:solidFill>
            <a:srgbClr val="60A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0D0D8"/>
                </a:solidFill>
              </a:defRPr>
            </a:pPr>
            <a:r>
              <a:t>Modern TypeScript ecosystem.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React 19 + TypeScript (strict)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Vite 8 — blazing fast HMR &amp; build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TailwindCSS 3 + PostCSS + Autoprefixer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React Router 7 — nested routes + role guards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i18next — bilingual (arabic/english), RTL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Lucide React — icon library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Vitest + Playwright — testing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Oxlint — fast linter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Node.js 22 + Express + TypeScript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PostgreSQL with Prisma ORM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16 migration files (schema versioning)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Helmet, CORS, rate-limiter, cookie-parser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Zod — request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JWT + bcrypt — authentication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pgvector — vector search for RAG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Vitest — unit &amp; integration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1371600"/>
          </a:xfrm>
          <a:prstGeom prst="rect">
            <a:avLst/>
          </a:prstGeom>
          <a:solidFill>
            <a:srgbClr val="60A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0D0D8"/>
                </a:solidFill>
              </a:defRPr>
            </a:pPr>
            <a:r>
              <a:t>Next steps for production readiness.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Upcoming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Phase 1: Database migration from localStorage → PostgreSQL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Phase 2: Real authentication (OAuth2 + sessions)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Phase 3: Connect all 20+ intelligence engines to persistence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Phase 4: AI model deployment (self-hosted GPU or cloud)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Phase 5: RAG document ingestion pipeline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Phase 6: Mobile app (PWA → React Native)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Phase 7: Multi-tenant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Phase 8: Real-time WebSocket collaboration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Phase 9: Production monitoring (APM, logs, alerts)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Phase 10: Load testing &amp; auto-scaling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1371600"/>
          </a:xfrm>
          <a:prstGeom prst="rect">
            <a:avLst/>
          </a:prstGeom>
          <a:solidFill>
            <a:srgbClr val="60A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0D0D8"/>
                </a:solidFill>
              </a:defRPr>
            </a:pPr>
            <a:r>
              <a:t>Where LearnPilot stands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Current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Progress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40/40 phases of engineering audit completed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Full production readiness report delivered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Backend: Express API fully wired (auth, learning, AI, admin)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Database: PostgreSQL schema with 16 migrations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Frontend: 50+ React pages across 4 roles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AI Gateway: 9+ providers with fallback &amp; caching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RAG: vector search + keyword fallback implemented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Screenshots: 11 UI screens captured for demo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D0D0D8"/>
                </a:solidFill>
                <a:latin typeface="Segoe UI"/>
              </a:defRPr>
            </a:pPr>
            <a:r>
              <a:t>Testing: vitest + playwright infrastructure in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شكراً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0D0D8"/>
                </a:solidFill>
              </a:defRPr>
            </a:pPr>
            <a:r>
              <a:t>LearnPilot — Building the future of adaptive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7078"/>
                </a:solidFill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