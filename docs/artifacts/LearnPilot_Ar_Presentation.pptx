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010" y="1024102"/>
            <a:ext cx="3413675" cy="38760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4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منصة تعليمية ذكية مدعومة بالذكاء الاصطناعي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962" y="1438620"/>
            <a:ext cx="9143771" cy="12263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3962" y="2133547"/>
            <a:ext cx="9143771" cy="78942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منصة تعليمية تتحوّل من إدارة التعلّم إلى نظام تعلّم ذكي ومتكامل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3547" y="2633406"/>
            <a:ext cx="7924602" cy="702299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تعلّم · تقييم · تحليل · تخصيص — في نظام واحد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2109" y="3096691"/>
            <a:ext cx="1523962" cy="37210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00" b="1">
                <a:solidFill>
                  <a:srgbClr val="80A5FF"/>
                </a:solidFill>
                <a:latin typeface="Segoe UI"/>
                <a:ea typeface="Segoe UI"/>
                <a:cs typeface="Segoe UI"/>
              </a:rPr>
              <a:t>React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7988" y="3096691"/>
            <a:ext cx="1523962" cy="37210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00" b="1">
                <a:solidFill>
                  <a:srgbClr val="7BE2BD"/>
                </a:solidFill>
                <a:latin typeface="Segoe UI"/>
                <a:ea typeface="Segoe UI"/>
                <a:cs typeface="Segoe UI"/>
              </a:rPr>
              <a:t>Node + Express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3867" y="3096691"/>
            <a:ext cx="1523962" cy="37210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00" b="1">
                <a:solidFill>
                  <a:srgbClr val="6FE2F4"/>
                </a:solidFill>
                <a:latin typeface="Segoe UI"/>
                <a:ea typeface="Segoe UI"/>
                <a:cs typeface="Segoe UI"/>
              </a:rPr>
              <a:t>Prisma +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9746" y="3096691"/>
            <a:ext cx="1523962" cy="37210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00" b="1">
                <a:solidFill>
                  <a:srgbClr val="AA95FF"/>
                </a:solidFill>
                <a:latin typeface="Segoe UI"/>
                <a:ea typeface="Segoe UI"/>
                <a:cs typeface="Segoe UI"/>
              </a:rPr>
              <a:t>AI Cascade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5624" y="3096691"/>
            <a:ext cx="1523962" cy="37210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00" b="1">
                <a:solidFill>
                  <a:srgbClr val="76E3D5"/>
                </a:solidFill>
                <a:latin typeface="Segoe UI"/>
                <a:ea typeface="Segoe UI"/>
                <a:cs typeface="Segoe UI"/>
              </a:rPr>
              <a:t>RTL عربي/إنجليزي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01 /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38058" y="377943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التعلّم التقليدي مُجزَّأ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38058" y="963144"/>
            <a:ext cx="8168436" cy="68718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المحتوى والتقييم والتقدّم والتخصيص والمساعدة الذكية في جزر منفصلة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9682" y="1828754"/>
            <a:ext cx="5266812" cy="2810499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ست جزر لا تتحدث مع بعضها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6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المحتوى في منصة، والتقييم في أخرى</a:t>
            </a:r>
          </a:p>
          <a:p>
            <a:pPr algn="r" rtl="1">
              <a:lnSpc>
                <a:spcPct val="122000"/>
              </a:lnSpc>
              <a:spcBef>
                <a:spcPts val="600"/>
              </a:spcBef>
            </a:pPr>
            <a:r>
              <a:rPr sz="16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التقدّم مخزَّن في جدول منفصل</a:t>
            </a:r>
          </a:p>
          <a:p>
            <a:pPr algn="r" rtl="1">
              <a:lnSpc>
                <a:spcPct val="122000"/>
              </a:lnSpc>
              <a:spcBef>
                <a:spcPts val="600"/>
              </a:spcBef>
            </a:pPr>
            <a:r>
              <a:rPr sz="16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التخصيص يعتمد على انطباع لا على بيانات</a:t>
            </a:r>
          </a:p>
          <a:p>
            <a:pPr algn="r" rtl="1">
              <a:lnSpc>
                <a:spcPct val="122000"/>
              </a:lnSpc>
              <a:spcBef>
                <a:spcPts val="600"/>
              </a:spcBef>
            </a:pPr>
            <a:r>
              <a:rPr sz="16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متابعة المعلّم يدوية ومتأخرة</a:t>
            </a:r>
          </a:p>
          <a:p>
            <a:pPr algn="r" rtl="1">
              <a:lnSpc>
                <a:spcPct val="122000"/>
              </a:lnSpc>
              <a:spcBef>
                <a:spcPts val="600"/>
              </a:spcBef>
            </a:pPr>
            <a:r>
              <a:rPr sz="16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المساعد الذكي لا يعرف منهج الطالب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600" b="1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نتيجة: تجربة متعبة وتقدّم غير مرئي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682" y="4645036"/>
            <a:ext cx="5266812" cy="114476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400" b="1">
                <a:solidFill>
                  <a:srgbClr val="59DEF2"/>
                </a:solidFill>
                <a:latin typeface="Segoe UI"/>
                <a:ea typeface="Segoe UI"/>
                <a:cs typeface="Segoe UI"/>
              </a:rPr>
              <a:t>LearnPilot يجمعها في نظام تعلّم ذكي واحد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5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بيانات التعلّم تتحرّك بين الدرس والتقييم والتحليل والتخصيص تلقائيًا.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02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</p:spTree>
  </p:cSld>
  <p:clrMapOvr>
    <a:masterClrMapping/>
  </p:clrMapOvr>
  <p:transition spd="med" thruBlk="1">
    <p:push thruBlk="1"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41406" y="3499017"/>
            <a:ext cx="1584920" cy="67131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500" b="1">
                <a:solidFill>
                  <a:srgbClr val="64E0F3"/>
                </a:solidFill>
                <a:latin typeface="Segoe UI"/>
                <a:ea typeface="Segoe UI"/>
                <a:cs typeface="Segoe UI"/>
              </a:rPr>
              <a:t>الطالب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2214" y="4598172"/>
            <a:ext cx="1584920" cy="67131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500" b="1">
                <a:solidFill>
                  <a:srgbClr val="6CE1D2"/>
                </a:solidFill>
                <a:latin typeface="Segoe UI"/>
                <a:ea typeface="Segoe UI"/>
                <a:cs typeface="Segoe UI"/>
              </a:rPr>
              <a:t>المعلّم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9777" y="5053458"/>
            <a:ext cx="1584920" cy="67131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500" b="1">
                <a:solidFill>
                  <a:srgbClr val="769EFF"/>
                </a:solidFill>
                <a:latin typeface="Segoe UI"/>
                <a:ea typeface="Segoe UI"/>
                <a:cs typeface="Segoe UI"/>
              </a:rPr>
              <a:t>المسؤول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340" y="4598172"/>
            <a:ext cx="1584920" cy="67131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500" b="1">
                <a:solidFill>
                  <a:srgbClr val="A38DFF"/>
                </a:solidFill>
                <a:latin typeface="Segoe UI"/>
                <a:ea typeface="Segoe UI"/>
                <a:cs typeface="Segoe UI"/>
              </a:rPr>
              <a:t>المالك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47" y="3499017"/>
            <a:ext cx="1584920" cy="67131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500" b="1">
                <a:solidFill>
                  <a:srgbClr val="A38DFF"/>
                </a:solidFill>
                <a:latin typeface="Segoe UI"/>
                <a:ea typeface="Segoe UI"/>
                <a:cs typeface="Segoe UI"/>
              </a:rPr>
              <a:t>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7340" y="2399861"/>
            <a:ext cx="1584920" cy="67131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500" b="1">
                <a:solidFill>
                  <a:srgbClr val="64E0F3"/>
                </a:solidFill>
                <a:latin typeface="Segoe UI"/>
                <a:ea typeface="Segoe UI"/>
                <a:cs typeface="Segoe UI"/>
              </a:rPr>
              <a:t>ذكاء التعلّم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9777" y="1944575"/>
            <a:ext cx="1584920" cy="67131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500" b="1">
                <a:solidFill>
                  <a:srgbClr val="71E0B8"/>
                </a:solidFill>
                <a:latin typeface="Segoe UI"/>
                <a:ea typeface="Segoe UI"/>
                <a:cs typeface="Segoe UI"/>
              </a:rPr>
              <a:t>التقييم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2214" y="2399861"/>
            <a:ext cx="1584920" cy="67131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500" b="1">
                <a:solidFill>
                  <a:srgbClr val="F8BB54"/>
                </a:solidFill>
                <a:latin typeface="Segoe UI"/>
                <a:ea typeface="Segoe UI"/>
                <a:cs typeface="Segoe UI"/>
              </a:rPr>
              <a:t>التحليلات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9401" y="316984"/>
            <a:ext cx="4267093" cy="6040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3B74FF"/>
                </a:solidFill>
                <a:latin typeface="Segoe UI"/>
                <a:ea typeface="Segoe UI"/>
                <a:cs typeface="Segoe UI"/>
              </a:rPr>
              <a:t>نظرة عامة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058" y="621776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ما هو LearnPilot؟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058" y="1206978"/>
            <a:ext cx="8168436" cy="68718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منصة تعليمية واحدة تربط الإنسان والبيانات والذكاء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9682" y="1828754"/>
            <a:ext cx="5266812" cy="154075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منصة تعليمية متكاملة</a:t>
            </a:r>
          </a:p>
          <a:p>
            <a:pPr algn="r" rtl="1">
              <a:lnSpc>
                <a:spcPct val="122000"/>
              </a:lnSpc>
              <a:spcBef>
                <a:spcPts val="1200"/>
              </a:spcBef>
            </a:pPr>
            <a:r>
              <a:rPr sz="17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تربط الطالب والمعلّم بمحركات تعلّم ذكية وذكاء اصطناعي — من الدرس حتى القياس والتخصيص،</a:t>
            </a:r>
          </a:p>
          <a:p>
            <a:pPr algn="r" rtl="1">
              <a:lnSpc>
                <a:spcPct val="122000"/>
              </a:lnSpc>
              <a:spcBef>
                <a:spcPts val="400"/>
              </a:spcBef>
            </a:pPr>
            <a:r>
              <a:rPr sz="17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مع حفظ كل بيانات التعلّم في قاعدة بيانات حقيقية.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682" y="3499017"/>
            <a:ext cx="1231361" cy="390134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400" b="1">
                <a:solidFill>
                  <a:srgbClr val="769EFF"/>
                </a:solidFill>
                <a:latin typeface="Segoe UI"/>
                <a:ea typeface="Segoe UI"/>
                <a:cs typeface="Segoe UI"/>
              </a:rPr>
              <a:t>131 نقطة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193" y="3499017"/>
            <a:ext cx="1231361" cy="390134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400" b="1">
                <a:solidFill>
                  <a:srgbClr val="64E0F3"/>
                </a:solidFill>
                <a:latin typeface="Segoe UI"/>
                <a:ea typeface="Segoe UI"/>
                <a:cs typeface="Segoe UI"/>
              </a:rPr>
              <a:t>56 جدولًا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8704" y="3499017"/>
            <a:ext cx="1231361" cy="390134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400" b="1">
                <a:solidFill>
                  <a:srgbClr val="A38DFF"/>
                </a:solidFill>
                <a:latin typeface="Segoe UI"/>
                <a:ea typeface="Segoe UI"/>
                <a:cs typeface="Segoe UI"/>
              </a:rPr>
              <a:t>20 محرك ذكاء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53216" y="3499017"/>
            <a:ext cx="1231361" cy="390134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400" b="1">
                <a:solidFill>
                  <a:srgbClr val="6CE1D2"/>
                </a:solidFill>
                <a:latin typeface="Segoe UI"/>
                <a:ea typeface="Segoe UI"/>
                <a:cs typeface="Segoe UI"/>
              </a:rPr>
              <a:t>53 صفحة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9682" y="3962301"/>
            <a:ext cx="5266812" cy="156053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4EDCF1"/>
                </a:solidFill>
                <a:latin typeface="Segoe UI"/>
                <a:ea typeface="Segoe UI"/>
                <a:cs typeface="Segoe UI"/>
              </a:rPr>
              <a:t>كل ما تحتاجه المنصة موجود في نفس النظام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5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دورات ودروس · تقييمات تكيفية · خطط تعلّم · تحليلات · إشعارات · ملفات · تعاون مباشر · إدارة وصلاحيات.</a:t>
            </a:r>
          </a:p>
          <a:p>
            <a:pPr algn="r" rtl="1">
              <a:lnSpc>
                <a:spcPct val="122000"/>
              </a:lnSpc>
              <a:spcBef>
                <a:spcPts val="600"/>
              </a:spcBef>
            </a:pPr>
            <a:r>
              <a:rPr sz="15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الواجهة عربية وإنجليزية بتخطيط RTL كامل.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03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</p:spTree>
  </p:cSld>
  <p:clrMapOvr>
    <a:masterClrMapping/>
  </p:clrMapOvr>
  <p:transition spd="med" thruBlk="1">
    <p:push thruBlk="1"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29254" y="3047924"/>
            <a:ext cx="2365189" cy="226765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الطالب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الدورات والدروس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التقييمات والاختبارات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خطط التعلّم والتقدّم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المساعد الذكي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47081" y="3047924"/>
            <a:ext cx="2365189" cy="226765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المعلّم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الفصول والطلاب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الواجبات والتسليم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الاختبارات والتصحيح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تحليلات الفصل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4908" y="3047924"/>
            <a:ext cx="2365189" cy="226765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المسؤول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إدارة المستخدمين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المحتوى والمقررات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سجل التدقيق والصحة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استخدام الذكاء الاصطناعي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35" y="3047924"/>
            <a:ext cx="2365189" cy="226765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المالك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رموز الدعوة والأدوار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أعلام الميزات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سياسة بوابة الذكاء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المؤسسات والإعدادات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9401" y="316984"/>
            <a:ext cx="4267093" cy="6040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7C5CFF"/>
                </a:solidFill>
                <a:latin typeface="Segoe UI"/>
                <a:ea typeface="Segoe UI"/>
                <a:cs typeface="Segoe UI"/>
              </a:rPr>
              <a:t>الأدوار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8058" y="621776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من يستخدم المنصة؟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058" y="1206978"/>
            <a:ext cx="8168436" cy="68718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أربعة أدوار واضحة، كل دور بواجهته وصلاحياته الخاصة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01" y="5425304"/>
            <a:ext cx="11021292" cy="65581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00" b="0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الدور يُثبَّت من جلسة السيرفر — لا يمكن للمستخدم تغيير دوره من الواجهة.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04 /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</p:spTree>
  </p:cSld>
  <p:clrMapOvr>
    <a:masterClrMapping/>
  </p:clrMapOvr>
  <p:transition spd="med" thruBlk="1">
    <p:cover thruBlk="1"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99657" y="2865048"/>
            <a:ext cx="1706837" cy="132942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6. تعلّم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الدرس والشرح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00" b="0">
                <a:solidFill>
                  <a:srgbClr val="4EDCF1"/>
                </a:solidFill>
                <a:latin typeface="Segoe UI"/>
                <a:ea typeface="Segoe UI"/>
                <a:cs typeface="Segoe UI"/>
              </a:rPr>
              <a:t>/courses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0902" y="2865048"/>
            <a:ext cx="1706837" cy="132942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5. تدرّب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أسئلة ومحاولات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00" b="0">
                <a:solidFill>
                  <a:srgbClr val="57DDCC"/>
                </a:solidFill>
                <a:latin typeface="Segoe UI"/>
                <a:ea typeface="Segoe UI"/>
                <a:cs typeface="Segoe UI"/>
              </a:rPr>
              <a:t>/hub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2148" y="2865048"/>
            <a:ext cx="1706837" cy="132942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4. قِس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اختبار تكيفي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00" b="0">
                <a:solidFill>
                  <a:srgbClr val="5DDCAD"/>
                </a:solidFill>
                <a:latin typeface="Segoe UI"/>
                <a:ea typeface="Segoe UI"/>
                <a:cs typeface="Segoe UI"/>
              </a:rPr>
              <a:t>/assessment/:id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3394" y="2865048"/>
            <a:ext cx="1706837" cy="132942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3. حلِّل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نتائج ومفاهيم خاطئة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00" b="0">
                <a:solidFill>
                  <a:srgbClr val="F7B13C"/>
                </a:solidFill>
                <a:latin typeface="Segoe UI"/>
                <a:ea typeface="Segoe UI"/>
                <a:cs typeface="Segoe UI"/>
              </a:rPr>
              <a:t>/results/:id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4639" y="2865048"/>
            <a:ext cx="1706837" cy="132942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2. خصِّص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مسار وخطة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00" b="0">
                <a:solidFill>
                  <a:srgbClr val="967DFF"/>
                </a:solidFill>
                <a:latin typeface="Segoe UI"/>
                <a:ea typeface="Segoe UI"/>
                <a:cs typeface="Segoe UI"/>
              </a:rPr>
              <a:t>/planner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85" y="2865048"/>
            <a:ext cx="1706837" cy="132942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1. تقدَّم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إتقان ومستوى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00" b="0">
                <a:solidFill>
                  <a:srgbClr val="6290FF"/>
                </a:solidFill>
                <a:latin typeface="Segoe UI"/>
                <a:ea typeface="Segoe UI"/>
                <a:cs typeface="Segoe UI"/>
              </a:rPr>
              <a:t>/progress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9401" y="316984"/>
            <a:ext cx="4267093" cy="6040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التجربة الأساسية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058" y="621776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رحلة التعلّم في المنصة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058" y="1206978"/>
            <a:ext cx="8168436" cy="68718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من الدرس إلى الإتقان — خطوات متصلة لا جزر منفصلة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01" y="4364627"/>
            <a:ext cx="11021292" cy="108279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000" b="1">
                <a:solidFill>
                  <a:srgbClr val="4EDCF1"/>
                </a:solidFill>
                <a:latin typeface="Segoe UI"/>
                <a:ea typeface="Segoe UI"/>
                <a:cs typeface="Segoe UI"/>
              </a:rPr>
              <a:t>كل خطوة تُنتج أحداث تعلّم حقيقية تُحفظ في PostgreSQL وتُغذّي التخصيص تلقائيًا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5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الأحداث تُغذّي الإتقان والتحليل والمفاهيم الخاطئة والتكرار المتباعد وخطة اليوم التالي.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05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01" y="6114135"/>
            <a:ext cx="11021292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المصدر: مسارات الواجهة في src/App.tsx ونقاط التعلّم في server/src/routes/learning.ts</a:t>
            </a:r>
          </a:p>
        </p:txBody>
      </p:sp>
    </p:spTree>
  </p:cSld>
  <p:clrMapOvr>
    <a:masterClrMapping/>
  </p:clrMapOvr>
  <p:transition spd="med">
    <p:fly thruBlk="1"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01" y="3047924"/>
            <a:ext cx="2096972" cy="235299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الواجهة الأمامية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React 19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TypeScript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Vite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Tailwind CSS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i18next · RTL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4090" y="3047924"/>
            <a:ext cx="2096972" cy="235299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الخلفية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Node.js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Express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TypeScript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Zod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multer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2978" y="3047924"/>
            <a:ext cx="2096972" cy="235299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البيانات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Prisma 6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PostgreSQL 16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56 model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9 migrations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JSONB +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1867" y="3047924"/>
            <a:ext cx="2096972" cy="235299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الأمن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bcrypt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HMAC-SHA256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helmet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rate-limit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AuditLog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0755" y="3047924"/>
            <a:ext cx="2096972" cy="235299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الذكاء الاصطناعي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9 provider slots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model cascade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RAG + embeddings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10 AI modes</a:t>
            </a:r>
          </a:p>
          <a:p>
            <a:pPr algn="r">
              <a:lnSpc>
                <a:spcPct val="122000"/>
              </a:lnSpc>
              <a:spcBef>
                <a:spcPts val="9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TTS / STT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9401" y="316984"/>
            <a:ext cx="4267093" cy="6040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7C5CFF"/>
                </a:solidFill>
                <a:latin typeface="Segoe UI"/>
                <a:ea typeface="Segoe UI"/>
                <a:cs typeface="Segoe UI"/>
              </a:rPr>
              <a:t>التقنيات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058" y="621776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المكدّس التقني الفعلي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058" y="1206978"/>
            <a:ext cx="8168436" cy="702299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كل ما يلي مستخدم فعليًا في الكود — لا تقنيات افتراضية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01" y="5498455"/>
            <a:ext cx="1219170" cy="37210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00" b="1">
                <a:solidFill>
                  <a:srgbClr val="6CE1D2"/>
                </a:solidFill>
                <a:latin typeface="Segoe UI"/>
                <a:ea typeface="Segoe UI"/>
                <a:cs typeface="Segoe UI"/>
              </a:rPr>
              <a:t>Vitest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9713" y="5498455"/>
            <a:ext cx="1219170" cy="37210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00" b="1">
                <a:solidFill>
                  <a:srgbClr val="64E0F3"/>
                </a:solidFill>
                <a:latin typeface="Segoe UI"/>
                <a:ea typeface="Segoe UI"/>
                <a:cs typeface="Segoe UI"/>
              </a:rPr>
              <a:t>Playwright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4224" y="5498455"/>
            <a:ext cx="1219170" cy="37210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00" b="1">
                <a:solidFill>
                  <a:srgbClr val="769EFF"/>
                </a:solidFill>
                <a:latin typeface="Segoe UI"/>
                <a:ea typeface="Segoe UI"/>
                <a:cs typeface="Segoe UI"/>
              </a:rPr>
              <a:t>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736" y="5498455"/>
            <a:ext cx="1219170" cy="37210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00" b="1">
                <a:solidFill>
                  <a:srgbClr val="A38DFF"/>
                </a:solidFill>
                <a:latin typeface="Segoe UI"/>
                <a:ea typeface="Segoe UI"/>
                <a:cs typeface="Segoe UI"/>
              </a:rPr>
              <a:t>nginx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3247" y="5498455"/>
            <a:ext cx="1219170" cy="37210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00" b="1">
                <a:solidFill>
                  <a:srgbClr val="F8BB54"/>
                </a:solidFill>
                <a:latin typeface="Segoe UI"/>
                <a:ea typeface="Segoe UI"/>
                <a:cs typeface="Segoe UI"/>
              </a:rPr>
              <a:t>oxlint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06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</p:spTree>
  </p:cSld>
  <p:clrMapOvr>
    <a:masterClrMapping/>
  </p:clrMapOvr>
  <p:transition spd="med">
    <p:zoom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3291" y="5583796"/>
            <a:ext cx="3910608" cy="6294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>
                <a:solidFill>
                  <a:srgbClr val="FC9CAA"/>
                </a:solidFill>
                <a:latin typeface="Segoe UI"/>
                <a:ea typeface="Segoe UI"/>
                <a:cs typeface="Segoe UI"/>
              </a:rPr>
              <a:t>USERS  ·  طالب · معلّم · مسؤول · مالك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47896" y="4974212"/>
            <a:ext cx="3701399" cy="6294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>
                <a:solidFill>
                  <a:srgbClr val="769EFF"/>
                </a:solidFill>
                <a:latin typeface="Segoe UI"/>
                <a:ea typeface="Segoe UI"/>
                <a:cs typeface="Segoe UI"/>
              </a:rPr>
              <a:t>REACT SPA  ·  Vite + nginx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52500" y="4364627"/>
            <a:ext cx="3492189" cy="6294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>
                <a:solidFill>
                  <a:srgbClr val="64E0F3"/>
                </a:solidFill>
                <a:latin typeface="Segoe UI"/>
                <a:ea typeface="Segoe UI"/>
                <a:cs typeface="Segoe UI"/>
              </a:rPr>
              <a:t>REST API  ·  /api/v1 · 131 نقطة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7105" y="3755042"/>
            <a:ext cx="3282980" cy="6294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>
                <a:solidFill>
                  <a:srgbClr val="71E0B8"/>
                </a:solidFill>
                <a:latin typeface="Segoe UI"/>
                <a:ea typeface="Segoe UI"/>
                <a:cs typeface="Segoe UI"/>
              </a:rPr>
              <a:t>EXPRESS  ·  مصادقة · RBAC · تحقق 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1710" y="3145457"/>
            <a:ext cx="3073770" cy="6294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>
                <a:solidFill>
                  <a:srgbClr val="A38DFF"/>
                </a:solidFill>
                <a:latin typeface="Segoe UI"/>
                <a:ea typeface="Segoe UI"/>
                <a:cs typeface="Segoe UI"/>
              </a:rPr>
              <a:t>SERVICES  ·  AI · RAG · تعلّم · خصوصية · صوت · تعاون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315" y="2535873"/>
            <a:ext cx="2864561" cy="6294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>
                <a:solidFill>
                  <a:srgbClr val="F8BB54"/>
                </a:solidFill>
                <a:latin typeface="Segoe UI"/>
                <a:ea typeface="Segoe UI"/>
                <a:cs typeface="Segoe UI"/>
              </a:rPr>
              <a:t>PRISMA ORM  ·  types + migrations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0919" y="1926288"/>
            <a:ext cx="2655351" cy="6294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>
                <a:solidFill>
                  <a:srgbClr val="6CE1D2"/>
                </a:solidFill>
                <a:latin typeface="Segoe UI"/>
                <a:ea typeface="Segoe UI"/>
                <a:cs typeface="Segoe UI"/>
              </a:rPr>
              <a:t>POSTGRESQL 16  ·  56 جدولًا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9401" y="316984"/>
            <a:ext cx="4267093" cy="6040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البنية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058" y="621776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المعمارية من الأعلى إلى القاعدة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058" y="1206978"/>
            <a:ext cx="8168436" cy="68718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طبقات منفصلة بمسؤوليات واضحة — لكل طبقة دور واحد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0896" y="1987246"/>
            <a:ext cx="2645598" cy="278814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أرقام من الكود</a:t>
            </a:r>
          </a:p>
          <a:p>
            <a:pPr algn="r" rtl="1">
              <a:lnSpc>
                <a:spcPct val="122000"/>
              </a:lnSpc>
              <a:spcBef>
                <a:spcPts val="1200"/>
              </a:spcBef>
            </a:pPr>
            <a:r>
              <a:rPr sz="15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18 وحدة مسارات API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5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131 نقطة نهاية REST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5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3 حاويات Docker تعمل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5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9 migrations مطبَّقة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5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56 model + 52 enum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5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6 طبقات خدمات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0896" y="4791336"/>
            <a:ext cx="2645598" cy="1013068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نشر واحد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3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nginx يقدّم الواجهة ويوكّل /api إلى السيرفر داخل شبكة Docker.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07 /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0755" y="1962863"/>
            <a:ext cx="2072588" cy="95668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Groq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api.groq.com · 3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41867" y="1962863"/>
            <a:ext cx="2072588" cy="95668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OpenRouter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openrouter.ai · 6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2978" y="1962863"/>
            <a:ext cx="2072588" cy="95668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Cerebras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api.cerebras.ai · 2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4090" y="1962863"/>
            <a:ext cx="2072588" cy="95668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Mistral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api.mistral.ai · 3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01" y="1962863"/>
            <a:ext cx="2072588" cy="95668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DeepInfra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api.deepinfra.com · 3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0755" y="2645598"/>
            <a:ext cx="2072588" cy="95668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HuggingFace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router.huggingface.co · 2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1867" y="2645598"/>
            <a:ext cx="2072588" cy="95668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GitHub Models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models.github.ai · 3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2978" y="2645598"/>
            <a:ext cx="2072588" cy="95668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Google Gemini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generativelanguage · 3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4090" y="2645598"/>
            <a:ext cx="2072588" cy="95668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Ollama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محلي · host · 1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01" y="2645598"/>
            <a:ext cx="2072588" cy="91794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أي فشل ينتقل تلقائيًا</a:t>
            </a:r>
          </a:p>
          <a:p>
            <a:pPr algn="r" rtl="1">
              <a:lnSpc>
                <a:spcPct val="122000"/>
              </a:lnSpc>
              <a:spcBef>
                <a:spcPts val="600"/>
              </a:spcBef>
            </a:pPr>
            <a:r>
              <a:rPr sz="12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النموذج التالي ثم المزوّد التالي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6397" y="3352716"/>
            <a:ext cx="5730097" cy="67131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5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RAG — إجابات موثّقة من محتوى الكورس فقط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9657" y="3645317"/>
            <a:ext cx="1706837" cy="91794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سؤال الطالب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/rag/ask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0902" y="3645317"/>
            <a:ext cx="1706837" cy="91794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تضمين السؤال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embeddings · e5-base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48" y="3645317"/>
            <a:ext cx="1706837" cy="91794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استرجاع المقاطع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تشابه ≥ 0.35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3394" y="3645317"/>
            <a:ext cx="1706837" cy="91794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بناء السياق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مراجع [1] [2]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4639" y="3645317"/>
            <a:ext cx="1706837" cy="91794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توليد الإجابة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LLM من السلسلة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885" y="3645317"/>
            <a:ext cx="1706837" cy="91794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إجابة موثّقة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أو رفض بلا دليل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01" y="4523119"/>
            <a:ext cx="11021292" cy="64807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50" b="0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حالة التشغيل بصراحة: التوليد العربي والإنجليزي حقيقي ويعمل (تم التحقق حيًّا عبر Groq)، أما RAG الكامل فيعتمد على مفاتيح المزوّد و embeddings و PGVECTOR_ENABLED — وبدونها يعمل بالبحث الكلماتي.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9401" y="316984"/>
            <a:ext cx="4267093" cy="6040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7C5CFF"/>
                </a:solidFill>
                <a:latin typeface="Segoe UI"/>
                <a:ea typeface="Segoe UI"/>
                <a:cs typeface="Segoe UI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058" y="621776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محرّك الذكاء الاصطناعي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058" y="1206978"/>
            <a:ext cx="8168436" cy="68718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سلسلة مزوّدين مع انتقال تلقائي عند أي فشل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08 /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</p:spTree>
  </p:cSld>
  <p:clrMapOvr>
    <a:masterClrMapping/>
  </p:clrMapOvr>
  <p:transition spd="med" thruBlk="1">
    <p:push thruBlk="1"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78723" y="1950671"/>
            <a:ext cx="2560256" cy="123989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4E0F3"/>
                </a:solidFill>
                <a:latin typeface="Segoe UI"/>
                <a:ea typeface="Segoe UI"/>
                <a:cs typeface="Segoe UI"/>
              </a:rPr>
              <a:t>1</a:t>
            </a:r>
          </a:p>
          <a:p>
            <a:pPr algn="r" rtl="1">
              <a:lnSpc>
                <a:spcPct val="122000"/>
              </a:lnSpc>
              <a:spcBef>
                <a:spcPts val="400"/>
              </a:spcBef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أحداث التعلّم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learning-events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5592" y="1950671"/>
            <a:ext cx="2560256" cy="123989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CE1D2"/>
                </a:solidFill>
                <a:latin typeface="Segoe UI"/>
                <a:ea typeface="Segoe UI"/>
                <a:cs typeface="Segoe UI"/>
              </a:rPr>
              <a:t>2</a:t>
            </a:r>
          </a:p>
          <a:p>
            <a:pPr algn="r" rtl="1">
              <a:lnSpc>
                <a:spcPct val="122000"/>
              </a:lnSpc>
              <a:spcBef>
                <a:spcPts val="400"/>
              </a:spcBef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الأدلة والمفاهيم الخاطئة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misconception-engine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60" y="1950671"/>
            <a:ext cx="2560256" cy="123989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71E0B8"/>
                </a:solidFill>
                <a:latin typeface="Segoe UI"/>
                <a:ea typeface="Segoe UI"/>
                <a:cs typeface="Segoe UI"/>
              </a:rPr>
              <a:t>3</a:t>
            </a:r>
          </a:p>
          <a:p>
            <a:pPr algn="r" rtl="1">
              <a:lnSpc>
                <a:spcPct val="122000"/>
              </a:lnSpc>
              <a:spcBef>
                <a:spcPts val="400"/>
              </a:spcBef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نموذج معرفة الطالب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student-knowledge-model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3" y="3413675"/>
            <a:ext cx="2560256" cy="123989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F8BB54"/>
                </a:solidFill>
                <a:latin typeface="Segoe UI"/>
                <a:ea typeface="Segoe UI"/>
                <a:cs typeface="Segoe UI"/>
              </a:rPr>
              <a:t>4</a:t>
            </a:r>
          </a:p>
          <a:p>
            <a:pPr algn="r" rtl="1">
              <a:lnSpc>
                <a:spcPct val="122000"/>
              </a:lnSpc>
              <a:spcBef>
                <a:spcPts val="400"/>
              </a:spcBef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تحليل المخاطر والتعثّر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risk-engine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5592" y="3413675"/>
            <a:ext cx="2560256" cy="123989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A38DFF"/>
                </a:solidFill>
                <a:latin typeface="Segoe UI"/>
                <a:ea typeface="Segoe UI"/>
                <a:cs typeface="Segoe UI"/>
              </a:rPr>
              <a:t>5</a:t>
            </a:r>
          </a:p>
          <a:p>
            <a:pPr algn="r" rtl="1">
              <a:lnSpc>
                <a:spcPct val="122000"/>
              </a:lnSpc>
              <a:spcBef>
                <a:spcPts val="400"/>
              </a:spcBef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الإتقان والتكرار المتباعد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mastery + spaced-repetition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60" y="3413675"/>
            <a:ext cx="2560256" cy="123989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769EFF"/>
                </a:solidFill>
                <a:latin typeface="Segoe UI"/>
                <a:ea typeface="Segoe UI"/>
                <a:cs typeface="Segoe UI"/>
              </a:rPr>
              <a:t>6</a:t>
            </a:r>
          </a:p>
          <a:p>
            <a:pPr algn="r" rtl="1">
              <a:lnSpc>
                <a:spcPct val="122000"/>
              </a:lnSpc>
              <a:spcBef>
                <a:spcPts val="400"/>
              </a:spcBef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مسار وخطة مخصّصة</a:t>
            </a:r>
          </a:p>
          <a:p>
            <a:pPr algn="r">
              <a:lnSpc>
                <a:spcPct val="122000"/>
              </a:lnSpc>
              <a:spcBef>
                <a:spcPts val="600"/>
              </a:spcBef>
            </a:pPr>
            <a:r>
              <a:rPr sz="11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learning-path +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9401" y="316984"/>
            <a:ext cx="4267093" cy="6040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التميّز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058" y="621776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ذكاء التعلّم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058" y="1206978"/>
            <a:ext cx="8168436" cy="68718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محرّكات حتمية تحوّل بيانات التعلّم إلى قرارات تعليمية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5688" y="1926288"/>
            <a:ext cx="2340805" cy="2865048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19 محرّكًا حتميًا</a:t>
            </a:r>
          </a:p>
          <a:p>
            <a:pPr algn="r" rtl="1">
              <a:lnSpc>
                <a:spcPct val="122000"/>
              </a:lnSpc>
              <a:spcBef>
                <a:spcPts val="600"/>
              </a:spcBef>
            </a:pPr>
            <a:r>
              <a:rPr sz="12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قابلة للاختبار — لا صندوق أسود</a:t>
            </a:r>
          </a:p>
          <a:p>
            <a:pPr algn="r" rtl="1">
              <a:lnSpc>
                <a:spcPct val="122000"/>
              </a:lnSpc>
              <a:spcBef>
                <a:spcPts val="14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أحداث ومعرفة: 4 محركات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تشخيص وتحليل: 4 محركات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تخطيط وتخصيص: 4 محركات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تقدّم ونماذج: 4 محركات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منصّة وتشغيل: 3 محركات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5688" y="4949828"/>
            <a:ext cx="2340805" cy="98982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كل قرار له سبب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3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الإتقان والمخاطر والتوصيات مبنية على أحداث مسجّلة، لا على تخمين.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09 /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01" y="6114135"/>
            <a:ext cx="11021292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المصدر: src/shared/intelligence (19 محرّكًا + barrel) مع 12 ملف اختبار للواجهة</a:t>
            </a:r>
          </a:p>
        </p:txBody>
      </p:sp>
    </p:spTree>
  </p:cSld>
  <p:clrMapOvr>
    <a:masterClrMapping/>
  </p:clrMapOvr>
  <p:transition spd="med">
    <p:fly thruBlk="1"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0896" y="1840946"/>
            <a:ext cx="2645598" cy="1383654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الطالب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يتعلّم · يتدرّب · يُقيَّم · يتقدّم</a:t>
            </a:r>
          </a:p>
          <a:p>
            <a:pPr algn="r" rtl="1">
              <a:lnSpc>
                <a:spcPct val="122000"/>
              </a:lnSpc>
              <a:spcBef>
                <a:spcPts val="600"/>
              </a:spcBef>
            </a:pPr>
            <a:r>
              <a:rPr sz="12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لوحة، دورات، مساعد ذكي، تقدّم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01" y="1840946"/>
            <a:ext cx="2645598" cy="1383654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المعلّم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يُنشئ · ينشر · يصحّح · يتابع</a:t>
            </a:r>
          </a:p>
          <a:p>
            <a:pPr algn="r" rtl="1">
              <a:lnSpc>
                <a:spcPct val="122000"/>
              </a:lnSpc>
              <a:spcBef>
                <a:spcPts val="600"/>
              </a:spcBef>
            </a:pPr>
            <a:r>
              <a:rPr sz="12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فصول، واجبات، اختبارات، تحليلات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9554" y="1828754"/>
            <a:ext cx="2072588" cy="95452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الفصل الدراسي</a:t>
            </a:r>
          </a:p>
          <a:p>
            <a:pPr algn="ctr" rtl="1"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مساحة العمل المشتركة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5560" y="3218608"/>
            <a:ext cx="1706837" cy="897498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الدورات والتسجيل</a:t>
            </a:r>
          </a:p>
          <a:p>
            <a:pPr algn="r">
              <a:lnSpc>
                <a:spcPct val="122000"/>
              </a:lnSpc>
              <a:spcBef>
                <a:spcPts val="500"/>
              </a:spcBef>
            </a:pPr>
            <a:r>
              <a:rPr sz="11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courses · enroll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806" y="3218608"/>
            <a:ext cx="1706837" cy="897498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الفصول والانضمام</a:t>
            </a:r>
          </a:p>
          <a:p>
            <a:pPr algn="r">
              <a:lnSpc>
                <a:spcPct val="122000"/>
              </a:lnSpc>
              <a:spcBef>
                <a:spcPts val="500"/>
              </a:spcBef>
            </a:pPr>
            <a:r>
              <a:rPr sz="11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classrooms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8052" y="3218608"/>
            <a:ext cx="1706837" cy="897498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الواجبات والتسليم</a:t>
            </a:r>
          </a:p>
          <a:p>
            <a:pPr algn="r">
              <a:lnSpc>
                <a:spcPct val="122000"/>
              </a:lnSpc>
              <a:spcBef>
                <a:spcPts val="500"/>
              </a:spcBef>
            </a:pPr>
            <a:r>
              <a:rPr sz="11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assignments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9298" y="3218608"/>
            <a:ext cx="1706837" cy="897498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التقييمات والأسئلة</a:t>
            </a:r>
          </a:p>
          <a:p>
            <a:pPr algn="r">
              <a:lnSpc>
                <a:spcPct val="122000"/>
              </a:lnSpc>
              <a:spcBef>
                <a:spcPts val="500"/>
              </a:spcBef>
            </a:pPr>
            <a:r>
              <a:rPr sz="11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assessments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560" y="3876959"/>
            <a:ext cx="1706837" cy="897498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خطط التعلّم</a:t>
            </a:r>
          </a:p>
          <a:p>
            <a:pPr algn="r">
              <a:lnSpc>
                <a:spcPct val="122000"/>
              </a:lnSpc>
              <a:spcBef>
                <a:spcPts val="500"/>
              </a:spcBef>
            </a:pPr>
            <a:r>
              <a:rPr sz="11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learning/plans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806" y="3876959"/>
            <a:ext cx="1706837" cy="897498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الإشعارات</a:t>
            </a:r>
          </a:p>
          <a:p>
            <a:pPr algn="r">
              <a:lnSpc>
                <a:spcPct val="122000"/>
              </a:lnSpc>
              <a:spcBef>
                <a:spcPts val="500"/>
              </a:spcBef>
            </a:pPr>
            <a:r>
              <a:rPr sz="11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8052" y="3876959"/>
            <a:ext cx="1706837" cy="897498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الملفات والمرفقات</a:t>
            </a:r>
          </a:p>
          <a:p>
            <a:pPr algn="r">
              <a:lnSpc>
                <a:spcPct val="122000"/>
              </a:lnSpc>
              <a:spcBef>
                <a:spcPts val="500"/>
              </a:spcBef>
            </a:pPr>
            <a:r>
              <a:rPr sz="11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files · multer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9298" y="3876959"/>
            <a:ext cx="1706837" cy="897498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الغرف المباشرة</a:t>
            </a:r>
          </a:p>
          <a:p>
            <a:pPr algn="r">
              <a:lnSpc>
                <a:spcPct val="122000"/>
              </a:lnSpc>
              <a:spcBef>
                <a:spcPts val="500"/>
              </a:spcBef>
            </a:pPr>
            <a:r>
              <a:rPr sz="11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collab rooms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9657" y="4913253"/>
            <a:ext cx="1706837" cy="65581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400" b="1">
                <a:solidFill>
                  <a:srgbClr val="59DEF2"/>
                </a:solidFill>
                <a:latin typeface="Segoe UI"/>
                <a:ea typeface="Segoe UI"/>
                <a:cs typeface="Segoe UI"/>
              </a:rPr>
              <a:t>إنشاء الفصل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0902" y="4913253"/>
            <a:ext cx="1706837" cy="65581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400" b="1">
                <a:solidFill>
                  <a:srgbClr val="62DFCF"/>
                </a:solidFill>
                <a:latin typeface="Segoe UI"/>
                <a:ea typeface="Segoe UI"/>
                <a:cs typeface="Segoe UI"/>
              </a:rPr>
              <a:t>انضمام الطالب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48" y="4913253"/>
            <a:ext cx="1706837" cy="65581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400" b="1">
                <a:solidFill>
                  <a:srgbClr val="67DEB2"/>
                </a:solidFill>
                <a:latin typeface="Segoe UI"/>
                <a:ea typeface="Segoe UI"/>
                <a:cs typeface="Segoe UI"/>
              </a:rPr>
              <a:t>نشر واجب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3394" y="4913253"/>
            <a:ext cx="1706837" cy="65581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400" b="1">
                <a:solidFill>
                  <a:srgbClr val="F8B648"/>
                </a:solidFill>
                <a:latin typeface="Segoe UI"/>
                <a:ea typeface="Segoe UI"/>
                <a:cs typeface="Segoe UI"/>
              </a:rPr>
              <a:t>تسليم العمل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4639" y="4913253"/>
            <a:ext cx="1706837" cy="65581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400" b="1">
                <a:solidFill>
                  <a:srgbClr val="9D85FF"/>
                </a:solidFill>
                <a:latin typeface="Segoe UI"/>
                <a:ea typeface="Segoe UI"/>
                <a:cs typeface="Segoe UI"/>
              </a:rPr>
              <a:t>تصحيح ودرجة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885" y="4913253"/>
            <a:ext cx="1706837" cy="655817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400" b="1">
                <a:solidFill>
                  <a:srgbClr val="6C97FF"/>
                </a:solidFill>
                <a:latin typeface="Segoe UI"/>
                <a:ea typeface="Segoe UI"/>
                <a:cs typeface="Segoe UI"/>
              </a:rPr>
              <a:t>تحليل الفصل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9401" y="316984"/>
            <a:ext cx="4267093" cy="6040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2DD4BF"/>
                </a:solidFill>
                <a:latin typeface="Segoe UI"/>
                <a:ea typeface="Segoe UI"/>
                <a:cs typeface="Segoe UI"/>
              </a:rPr>
              <a:t>التعاون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8058" y="621776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منظومة الطالب والمعلّم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058" y="1206978"/>
            <a:ext cx="8168436" cy="68718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دورة عمل واحدة من إنشاء الفصل حتى تحليل النتائج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10 /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</p:spTree>
  </p:cSld>
  <p:clrMapOvr>
    <a:masterClrMapping/>
  </p:clrMapOvr>
  <p:transition spd="med" thruBlk="1">
    <p:cover thruBlk="1"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07477" y="1828754"/>
            <a:ext cx="3474633" cy="140562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مصادقة صلبة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bcrypt للتجزئة — لا كلمات مرور نصية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توكن HMAC-SHA256 مرتبط بجلسة في قاعدة البيانات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6339" y="1828754"/>
            <a:ext cx="3474633" cy="140562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صلاحيات دقيقة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RBAC + منع IDOR على الملكية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الدور يُقرأ من الجلسة لا من الطلب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01" y="1828754"/>
            <a:ext cx="3474633" cy="140562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الأدوار العليا بدعوة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ADMIN و OWNER بدعوة فقط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رمز دعوة مُجزّأ ومسجَّل لكل مسؤول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477" y="3194224"/>
            <a:ext cx="3474633" cy="140562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تحقّق من المدخلات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Zod على نقاط النهاية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Prisma باستعلامات معاملات (لا SQL مركّب)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6339" y="3194224"/>
            <a:ext cx="3474633" cy="140562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حماية الشبكة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helmet + CORS + حد معدل عام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حد أدق على مسار تسجيل الدخول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01" y="3194224"/>
            <a:ext cx="3474633" cy="140562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خصوصية واحتفاظ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موافقات · تفضيلات · تصدير · حذف حساب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مجدول احتفاظ يحذف البيانات القديمة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9401" y="316984"/>
            <a:ext cx="4267093" cy="6040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الحماية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058" y="621776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الأمان والصلاحيات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058" y="1206978"/>
            <a:ext cx="8168436" cy="68718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الأمان مبني في السيرفر: جلسة، دور، تحقّق، تدقيق، خصوصية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01" y="4657228"/>
            <a:ext cx="11021292" cy="1038468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700" b="1">
                <a:solidFill>
                  <a:srgbClr val="F8B648"/>
                </a:solidFill>
                <a:latin typeface="Segoe UI"/>
                <a:ea typeface="Segoe UI"/>
                <a:cs typeface="Segoe UI"/>
              </a:rPr>
              <a:t>تحقّق حيّ اليوم — لا وعود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تسجيل admin بلا رمز دعوة → 400 · طالب على /admin/users → 403 · طلب بلا توكن → 401 · توكن بلا جلسة → 401 · سجل التدقيق 1358 حدثًا في قاعدة البيانات.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11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</p:spTree>
  </p:cSld>
  <p:clrMapOvr>
    <a:masterClrMapping/>
  </p:clrMapOvr>
  <p:transition spd="med" thruBlk="1">
    <p:push thruBlk="1"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92067" y="5059554"/>
            <a:ext cx="3174717" cy="6294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>
                <a:solidFill>
                  <a:srgbClr val="769EFF"/>
                </a:solidFill>
                <a:latin typeface="Segoe UI"/>
                <a:ea typeface="Segoe UI"/>
                <a:cs typeface="Segoe UI"/>
              </a:rPr>
              <a:t>الواجهة الأمامية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5450" y="4328052"/>
            <a:ext cx="2947952" cy="6294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>
                <a:solidFill>
                  <a:srgbClr val="64E0F3"/>
                </a:solidFill>
                <a:latin typeface="Segoe UI"/>
                <a:ea typeface="Segoe UI"/>
                <a:cs typeface="Segoe UI"/>
              </a:rPr>
              <a:t>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8832" y="3596550"/>
            <a:ext cx="2721186" cy="6294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>
                <a:solidFill>
                  <a:srgbClr val="71E0B8"/>
                </a:solidFill>
                <a:latin typeface="Segoe UI"/>
                <a:ea typeface="Segoe UI"/>
                <a:cs typeface="Segoe UI"/>
              </a:rPr>
              <a:t>سيرفر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2215" y="2865048"/>
            <a:ext cx="2494421" cy="6294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>
                <a:solidFill>
                  <a:srgbClr val="F8BB54"/>
                </a:solidFill>
                <a:latin typeface="Segoe UI"/>
                <a:ea typeface="Segoe UI"/>
                <a:cs typeface="Segoe UI"/>
              </a:rPr>
              <a:t>Prisma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5598" y="2133547"/>
            <a:ext cx="2267655" cy="6294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>
                <a:solidFill>
                  <a:srgbClr val="6CE1D2"/>
                </a:solidFill>
                <a:latin typeface="Segoe UI"/>
                <a:ea typeface="Segoe UI"/>
                <a:cs typeface="Segoe UI"/>
              </a:rPr>
              <a:t>PostgreSQL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9401" y="316984"/>
            <a:ext cx="4267093" cy="6040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2DD4BF"/>
                </a:solidFill>
                <a:latin typeface="Segoe UI"/>
                <a:ea typeface="Segoe UI"/>
                <a:cs typeface="Segoe UI"/>
              </a:rPr>
              <a:t>البيانات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058" y="621776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البيانات والاستمرارية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058" y="1206978"/>
            <a:ext cx="8168436" cy="68718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ما يتعلّمه الطالب يُحفظ في قاعدة بيانات حقيقية — لا في المتصفح فقط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432" y="1828754"/>
            <a:ext cx="4901061" cy="282904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جداول تعلّم حقيقية</a:t>
            </a:r>
          </a:p>
          <a:p>
            <a:pPr algn="r">
              <a:lnSpc>
                <a:spcPct val="122000"/>
              </a:lnSpc>
              <a:spcBef>
                <a:spcPts val="1200"/>
              </a:spcBef>
            </a:pPr>
            <a:r>
              <a:rPr sz="13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learning_events · mastery_records · xp_events</a:t>
            </a:r>
          </a:p>
          <a:p>
            <a:pPr algn="r">
              <a:lnSpc>
                <a:spcPct val="122000"/>
              </a:lnSpc>
              <a:spcBef>
                <a:spcPts val="700"/>
              </a:spcBef>
            </a:pPr>
            <a:r>
              <a:rPr sz="13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knowledge_nodes · knowledge_edges</a:t>
            </a:r>
          </a:p>
          <a:p>
            <a:pPr algn="r">
              <a:lnSpc>
                <a:spcPct val="122000"/>
              </a:lnSpc>
              <a:spcBef>
                <a:spcPts val="700"/>
              </a:spcBef>
            </a:pPr>
            <a:r>
              <a:rPr sz="13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plan_items · review_cards · study_sessions</a:t>
            </a:r>
          </a:p>
          <a:p>
            <a:pPr algn="r">
              <a:lnSpc>
                <a:spcPct val="122000"/>
              </a:lnSpc>
              <a:spcBef>
                <a:spcPts val="700"/>
              </a:spcBef>
            </a:pPr>
            <a:r>
              <a:rPr sz="13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classrooms · assignments · submissions</a:t>
            </a:r>
          </a:p>
          <a:p>
            <a:pPr algn="r">
              <a:lnSpc>
                <a:spcPct val="122000"/>
              </a:lnSpc>
              <a:spcBef>
                <a:spcPts val="700"/>
              </a:spcBef>
            </a:pPr>
            <a:r>
              <a:rPr sz="13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ai_conversations · ai_messages · rag_chunks</a:t>
            </a:r>
          </a:p>
          <a:p>
            <a:pPr algn="r">
              <a:lnSpc>
                <a:spcPct val="122000"/>
              </a:lnSpc>
              <a:spcBef>
                <a:spcPts val="700"/>
              </a:spcBef>
            </a:pPr>
            <a:r>
              <a:rPr sz="13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live_rooms · voice_sessions · sandbox_runs</a:t>
            </a:r>
          </a:p>
          <a:p>
            <a:pPr algn="r">
              <a:lnSpc>
                <a:spcPct val="122000"/>
              </a:lnSpc>
              <a:spcBef>
                <a:spcPts val="700"/>
              </a:spcBef>
            </a:pPr>
            <a:r>
              <a:rPr sz="13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sessions · audit_logs · consent_records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432" y="4608461"/>
            <a:ext cx="4901061" cy="648070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5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التوكن فقط في المتصفح (localStorage) — أما بيانات التعلّم فكلها في PostgreSQL.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432" y="5279004"/>
            <a:ext cx="490106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أرقام حيّة الآن من الحاوية learnpilot-postgres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432" y="5522838"/>
            <a:ext cx="1158211" cy="37985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50" b="1">
                <a:solidFill>
                  <a:srgbClr val="769EFF"/>
                </a:solidFill>
                <a:latin typeface="Segoe UI"/>
                <a:ea typeface="Segoe UI"/>
                <a:cs typeface="Segoe UI"/>
              </a:rPr>
              <a:t>399 مستخدم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560" y="5522838"/>
            <a:ext cx="1158211" cy="37985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50" b="1">
                <a:solidFill>
                  <a:srgbClr val="64E0F3"/>
                </a:solidFill>
                <a:latin typeface="Segoe UI"/>
                <a:ea typeface="Segoe UI"/>
                <a:cs typeface="Segoe UI"/>
              </a:rPr>
              <a:t>573 جلسة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5688" y="5522838"/>
            <a:ext cx="1158211" cy="37985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50" b="1">
                <a:solidFill>
                  <a:srgbClr val="F8BB54"/>
                </a:solidFill>
                <a:latin typeface="Segoe UI"/>
                <a:ea typeface="Segoe UI"/>
                <a:cs typeface="Segoe UI"/>
              </a:rPr>
              <a:t>1358 تدقيق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816" y="5522838"/>
            <a:ext cx="1158211" cy="37985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350" b="1">
                <a:solidFill>
                  <a:srgbClr val="6CE1D2"/>
                </a:solidFill>
                <a:latin typeface="Segoe UI"/>
                <a:ea typeface="Segoe UI"/>
                <a:cs typeface="Segoe UI"/>
              </a:rPr>
              <a:t>99 حدث تعلّم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12 /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55042" y="1950671"/>
            <a:ext cx="3047924" cy="131670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3400" b="1">
                <a:solidFill>
                  <a:srgbClr val="52DAA8"/>
                </a:solidFill>
                <a:latin typeface="Segoe UI"/>
                <a:ea typeface="Segoe UI"/>
                <a:cs typeface="Segoe UI"/>
              </a:rPr>
              <a:t>139 / 139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اختبار واجهة — Vitest · 12 ملفًا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01" y="1950671"/>
            <a:ext cx="3047924" cy="131670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3400" b="1">
                <a:solidFill>
                  <a:srgbClr val="F6AD30"/>
                </a:solidFill>
                <a:latin typeface="Segoe UI"/>
                <a:ea typeface="Segoe UI"/>
                <a:cs typeface="Segoe UI"/>
              </a:rPr>
              <a:t>76 / 81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اختبار سيرفر — Vitest · 9 ملفات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55042" y="3413675"/>
            <a:ext cx="3047924" cy="131670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3400" b="1">
                <a:solidFill>
                  <a:srgbClr val="43DAF1"/>
                </a:solidFill>
                <a:latin typeface="Segoe UI"/>
                <a:ea typeface="Segoe UI"/>
                <a:cs typeface="Segoe UI"/>
              </a:rPr>
              <a:t>11 / 13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سيناريو E2E — 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01" y="3413675"/>
            <a:ext cx="3047924" cy="131670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3400" b="1">
                <a:solidFill>
                  <a:srgbClr val="5889FF"/>
                </a:solidFill>
                <a:latin typeface="Segoe UI"/>
                <a:ea typeface="Segoe UI"/>
                <a:cs typeface="Segoe UI"/>
              </a:rPr>
              <a:t>0 أخطاء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TypeScript للواجهة — tsc -b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9401" y="316984"/>
            <a:ext cx="4267093" cy="6040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  <a:ea typeface="Segoe UI"/>
                <a:cs typeface="Segoe UI"/>
              </a:rPr>
              <a:t>الجودة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8058" y="621776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الجودة والاختبارات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058" y="1206978"/>
            <a:ext cx="8168436" cy="68718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أرقام مقيسة اليوم على هذه النسخة — لا أرقام تاريخية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1183" y="1926288"/>
            <a:ext cx="4535311" cy="1828754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لماذا 5 + 2 اختبارًا لا تمرّ؟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اختبارات قديمة تنشئ حساب ADMIN/OWNER ذاتيًا، والمنصة الآن تمنع ذلك (دعوة فقط).</a:t>
            </a:r>
          </a:p>
          <a:p>
            <a:pPr algn="r" rtl="1">
              <a:lnSpc>
                <a:spcPct val="122000"/>
              </a:lnSpc>
              <a:spcBef>
                <a:spcPts val="8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أي أنها تكشف تشديدًا أمنيًا صحيحًا، وتحتاج تحديثًا في الاختبار لا إصلاحًا في المنصة.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1183" y="3852576"/>
            <a:ext cx="4535311" cy="171080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مناطق مغطاة فعليًا</a:t>
            </a:r>
          </a:p>
          <a:p>
            <a:pPr algn="r">
              <a:lnSpc>
                <a:spcPct val="122000"/>
              </a:lnSpc>
              <a:spcBef>
                <a:spcPts val="1000"/>
              </a:spcBef>
            </a:pPr>
            <a:r>
              <a:rPr sz="130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auth · rbac · security · retention · validation · learning · sandbox · voice · google-oauth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الواجهة: أحداث · إتقان · تكرار متباعد · مسارات · مخاطر · تكيّف · إنتاج · XP · مزامنة التعلّم.</a:t>
            </a:r>
          </a:p>
          <a:p>
            <a:pPr algn="r" rtl="1">
              <a:lnSpc>
                <a:spcPct val="122000"/>
              </a:lnSpc>
              <a:spcBef>
                <a:spcPts val="1000"/>
              </a:spcBef>
            </a:pPr>
            <a:r>
              <a:rPr sz="1300" b="0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فحص الأنواع: السيرفر يُظهر 3 أخطاء أنواع لأن عميل Prisma المُولَّد أقدم من المخطط — يلزم prisma generate.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13 /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</p:spTree>
  </p:cSld>
  <p:clrMapOvr>
    <a:masterClrMapping/>
  </p:clrMapOvr>
  <p:transition spd="med" thruBlk="1">
    <p:push thruBlk="1"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56806" y="1779987"/>
            <a:ext cx="5449688" cy="249312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000" b="1">
                <a:solidFill>
                  <a:srgbClr val="5DDCAD"/>
                </a:solidFill>
                <a:latin typeface="Segoe UI"/>
                <a:ea typeface="Segoe UI"/>
                <a:cs typeface="Segoe UI"/>
              </a:rPr>
              <a:t>مُنفَّذ ويعمل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مصادقة + جلسات + RBAC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أحداث التعلّم · الإتقان · الخطط · XP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دورات · فصول · واجبات · تقييمات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إشعارات · ملفات · غرف مباشرة · صوت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سجل تدقيق + خصوصية واحتفاظ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01" y="1779987"/>
            <a:ext cx="5449688" cy="249312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000" b="1">
                <a:solidFill>
                  <a:srgbClr val="F7B13C"/>
                </a:solidFill>
                <a:latin typeface="Segoe UI"/>
                <a:ea typeface="Segoe UI"/>
                <a:cs typeface="Segoe UI"/>
              </a:rPr>
              <a:t>منفَّذ جزئيًا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RAG كامل يحتاج embeddings و PGVECTOR_ENABLED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الصوت يحتاج مفتاح Groq وإلا بديل المتصفح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المحتوى التشغيلي محدود: دورة واحدة ودرسان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5 اختبارات سيرفر + 2 E2E تحتاج تحديثًا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التعاون عبر REST — لا WebSocket حيًّا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806" y="3828192"/>
            <a:ext cx="5449688" cy="249312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000" b="1">
                <a:solidFill>
                  <a:srgbClr val="6290FF"/>
                </a:solidFill>
                <a:latin typeface="Segoe UI"/>
                <a:ea typeface="Segoe UI"/>
                <a:cs typeface="Segoe UI"/>
              </a:rPr>
              <a:t>يحتاج إعدادًا خارجيًا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مفاتيح مزوّدي الذكاء الاصطناعي في .env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نموذج التضمين من HuggingFace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خانتا استضافة ذاتية CUSTOM_LLM_*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تدوير مفاتيح API (إجراء المالك)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مزودون اختياريون: Gemini · GitHub · Ollama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01" y="3828192"/>
            <a:ext cx="5449688" cy="249312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000" b="1">
                <a:solidFill>
                  <a:srgbClr val="967DFF"/>
                </a:solidFill>
                <a:latin typeface="Segoe UI"/>
                <a:ea typeface="Segoe UI"/>
                <a:cs typeface="Segoe UI"/>
              </a:rPr>
              <a:t>أعمال مستقبلية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توليد عميل Prisma حديث (يزيل 3 أخطاء أنواع)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CI/CD ومتابعة تشغيل ومراقبة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تخزين سحابي للملفات بدل القرص المحلي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WebSocket لحظي للغرف والتعاون</a:t>
            </a:r>
          </a:p>
          <a:p>
            <a:pPr algn="r" rtl="1">
              <a:lnSpc>
                <a:spcPct val="122000"/>
              </a:lnSpc>
              <a:spcBef>
                <a:spcPts val="11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توسّع أفقي وحمل أعلى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9401" y="316984"/>
            <a:ext cx="4267093" cy="6040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الوضع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8058" y="621776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الحالة الحالية بصراحة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058" y="1206978"/>
            <a:ext cx="8168436" cy="68718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مستخلصة من الكود وقاعدة البيانات الحيّة — بلا مبالغة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14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</p:spTree>
  </p:cSld>
  <p:clrMapOvr>
    <a:masterClrMapping/>
  </p:clrMapOvr>
  <p:transition spd="med" thruBlk="1">
    <p:cover thruBlk="1"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01" y="3291758"/>
            <a:ext cx="2096972" cy="219450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موحّد</a:t>
            </a:r>
          </a:p>
          <a:p>
            <a:pPr algn="r" rtl="1">
              <a:lnSpc>
                <a:spcPct val="122000"/>
              </a:lnSpc>
              <a:spcBef>
                <a:spcPts val="12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تعلّم + تقييم + تحليلات + ذكاء في منصة واحدة.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4090" y="3291758"/>
            <a:ext cx="2096972" cy="219450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ذكي</a:t>
            </a:r>
          </a:p>
          <a:p>
            <a:pPr algn="r" rtl="1">
              <a:lnSpc>
                <a:spcPct val="122000"/>
              </a:lnSpc>
              <a:spcBef>
                <a:spcPts val="12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قرارات مبنية على أحداث تعلّم مسجّلة، لا على تخمين.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2978" y="3291758"/>
            <a:ext cx="2096972" cy="219450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قائم على الأدوار</a:t>
            </a:r>
          </a:p>
          <a:p>
            <a:pPr algn="r" rtl="1">
              <a:lnSpc>
                <a:spcPct val="122000"/>
              </a:lnSpc>
              <a:spcBef>
                <a:spcPts val="12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طالب · معلّم · مسؤول · مالك بصلاحيات مفصولة.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1867" y="3291758"/>
            <a:ext cx="2096972" cy="219450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قابل للتوسّع</a:t>
            </a:r>
          </a:p>
          <a:p>
            <a:pPr algn="r" rtl="1">
              <a:lnSpc>
                <a:spcPct val="122000"/>
              </a:lnSpc>
              <a:spcBef>
                <a:spcPts val="12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طبقة تجريد للمزوّدين وخدمات موديولية مستقلة.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0755" y="3291758"/>
            <a:ext cx="2096972" cy="2194505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مستمر</a:t>
            </a:r>
          </a:p>
          <a:p>
            <a:pPr algn="r" rtl="1">
              <a:lnSpc>
                <a:spcPct val="122000"/>
              </a:lnSpc>
              <a:spcBef>
                <a:spcPts val="1200"/>
              </a:spcBef>
            </a:pPr>
            <a:r>
              <a:rPr sz="1350" b="0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بيانات محفوظة في PostgreSQL مع تدقيق وخصوصية.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9401" y="316984"/>
            <a:ext cx="4267093" cy="6040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الخلاصة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058" y="621776"/>
            <a:ext cx="8168436" cy="8961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لماذا LearnPilot؟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058" y="1206978"/>
            <a:ext cx="8168436" cy="687186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7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خصائص تقنية موجودة فعلًا في الكود — بلا ترتيب وبلا مبالغة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15 /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01" y="6114135"/>
            <a:ext cx="11021292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كل بند في هذه الشريحة يمكن تتبّعه إلى ملف في المستودع أو إلى نقطة نهاية تعمل.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3962" y="1414237"/>
            <a:ext cx="9143771" cy="11755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5464" y="2584639"/>
            <a:ext cx="1828754" cy="52424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600" b="1">
                <a:solidFill>
                  <a:srgbClr val="64E0F3"/>
                </a:solidFill>
                <a:latin typeface="Segoe UI"/>
                <a:ea typeface="Segoe UI"/>
                <a:cs typeface="Segoe UI"/>
              </a:rPr>
              <a:t>الطالب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135" y="2584639"/>
            <a:ext cx="1828754" cy="52424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600" b="1">
                <a:solidFill>
                  <a:srgbClr val="6CE1D2"/>
                </a:solidFill>
                <a:latin typeface="Segoe UI"/>
                <a:ea typeface="Segoe UI"/>
                <a:cs typeface="Segoe UI"/>
              </a:rPr>
              <a:t>المعلّم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806" y="2584639"/>
            <a:ext cx="1828754" cy="52424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600" b="1">
                <a:solidFill>
                  <a:srgbClr val="769EFF"/>
                </a:solidFill>
                <a:latin typeface="Segoe UI"/>
                <a:ea typeface="Segoe UI"/>
                <a:cs typeface="Segoe UI"/>
              </a:rPr>
              <a:t>المسؤول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477" y="2584639"/>
            <a:ext cx="1828754" cy="52424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600" b="1">
                <a:solidFill>
                  <a:srgbClr val="A38DFF"/>
                </a:solidFill>
                <a:latin typeface="Segoe UI"/>
                <a:ea typeface="Segoe UI"/>
                <a:cs typeface="Segoe UI"/>
              </a:rPr>
              <a:t>المالك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3962" y="3364908"/>
            <a:ext cx="9143771" cy="129615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700" b="1">
                <a:solidFill>
                  <a:srgbClr val="EEF3FB"/>
                </a:solidFill>
                <a:latin typeface="Segoe UI"/>
                <a:ea typeface="Segoe UI"/>
                <a:cs typeface="Segoe UI"/>
              </a:rPr>
              <a:t>منصة تعليمية تتحوّل من مجرد إدارة التعلّم</a:t>
            </a:r>
          </a:p>
          <a:p>
            <a:pPr algn="ctr" rtl="1">
              <a:lnSpc>
                <a:spcPct val="125000"/>
              </a:lnSpc>
            </a:pPr>
            <a:r>
              <a:rPr sz="2700" b="1">
                <a:solidFill>
                  <a:srgbClr val="59DEF2"/>
                </a:solidFill>
                <a:latin typeface="Segoe UI"/>
                <a:ea typeface="Segoe UI"/>
                <a:cs typeface="Segoe UI"/>
              </a:rPr>
              <a:t>إلى نظام تعلّم ذكي ومتكامل.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5048" y="4523119"/>
            <a:ext cx="2072588" cy="4389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500" b="1">
                <a:solidFill>
                  <a:srgbClr val="71E0B8"/>
                </a:solidFill>
                <a:latin typeface="Segoe UI"/>
                <a:ea typeface="Segoe UI"/>
                <a:cs typeface="Segoe UI"/>
              </a:rPr>
              <a:t>تعلّم مستمر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9554" y="4523119"/>
            <a:ext cx="2072588" cy="4389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500" b="1">
                <a:solidFill>
                  <a:srgbClr val="F8BB54"/>
                </a:solidFill>
                <a:latin typeface="Segoe UI"/>
                <a:ea typeface="Segoe UI"/>
                <a:cs typeface="Segoe UI"/>
              </a:rPr>
              <a:t>تحليل حقيقي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4059" y="4523119"/>
            <a:ext cx="2072588" cy="43890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500" b="1">
                <a:solidFill>
                  <a:srgbClr val="A38DFF"/>
                </a:solidFill>
                <a:latin typeface="Segoe UI"/>
                <a:ea typeface="Segoe UI"/>
                <a:cs typeface="Segoe UI"/>
              </a:rPr>
              <a:t>تخصيص لكل طالب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3962" y="5218046"/>
            <a:ext cx="9143771" cy="671311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ctr" rtl="1">
              <a:lnSpc>
                <a:spcPct val="122000"/>
              </a:lnSpc>
            </a:pPr>
            <a:r>
              <a:rPr sz="1500" b="0">
                <a:solidFill>
                  <a:srgbClr val="9FADC7"/>
                </a:solidFill>
                <a:latin typeface="Segoe UI"/>
                <a:ea typeface="Segoe UI"/>
                <a:cs typeface="Segoe UI"/>
              </a:rPr>
              <a:t>منصة عربية أولًا · معمارية واضحة · بيانات محفوظة · ذكاء قابل للتوسّع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01" y="6394544"/>
            <a:ext cx="1219170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l" rtl="1">
              <a:lnSpc>
                <a:spcPct val="122000"/>
              </a:lnSpc>
            </a:pPr>
            <a:r>
              <a:rPr sz="1300" b="0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16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5823" y="6394544"/>
            <a:ext cx="1950671" cy="640323"/>
          </a:xfrm>
          <a:prstGeom prst="rect">
            <a:avLst/>
          </a:prstGeom>
          <a:noFill/>
        </p:spPr>
        <p:txBody>
          <a:bodyPr wrap="square" lIns="207259" rIns="207259" tIns="97534" bIns="73150" anchor="t">
            <a:spAutoFit/>
          </a:bodyPr>
          <a:lstStyle/>
          <a:p>
            <a:pPr algn="r" rtl="1">
              <a:lnSpc>
                <a:spcPct val="122000"/>
              </a:lnSpc>
            </a:pPr>
            <a:r>
              <a:rPr sz="1300" b="1">
                <a:solidFill>
                  <a:srgbClr val="6E7D99"/>
                </a:solidFill>
                <a:latin typeface="Segoe UI"/>
                <a:ea typeface="Segoe UI"/>
                <a:cs typeface="Segoe UI"/>
              </a:rPr>
              <a:t>LearnPilot</a:t>
            </a:r>
          </a:p>
        </p:txBody>
      </p:sp>
    </p:spTree>
  </p:cSld>
  <p:clrMapOvr>
    <a:masterClrMapping/>
  </p:clrMapOvr>
  <p:transition spd="med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